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92" r:id="rId3"/>
    <p:sldId id="270" r:id="rId4"/>
    <p:sldId id="291" r:id="rId5"/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46820-F98F-4A47-B064-1576669F36D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B25B6-AEBC-452E-ADC2-1DD87DC5EF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672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2909-62A1-BB13-78A9-373F2F189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5CD7D-0298-AC70-C959-FD3BB9206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33AB9-CB2F-2241-911F-0DDC29EA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1D503-644A-0468-2686-06F3C0E3C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2D94-191E-A696-27FF-03686B8F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92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47D1-F2FE-083E-81BB-4A0BEE63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733FC-EAA5-367F-3FC4-0713807F3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DF4E-9B5A-ECAA-1982-92020D543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F16AD-F673-2489-E41C-AAB5E8F4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C4492-3E1D-3046-6E1B-E4D574C7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70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5CDC-D7E0-1B81-CFF6-03DE9E07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432AD-5CC4-7FE4-29E2-4D8839FE4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5248-4C71-4F96-5940-266586C5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81DEE-1CEF-FCBB-28C8-7D18F0A9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2EE3D-9B08-1094-D788-E7B57E5A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027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E7E1-E45F-64DB-E2EF-8E8AE46F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EEC98-74A9-A0C6-5405-8F9E72C32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DEA87-BCA3-0B9D-92C3-465A91B5A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BADC0-0F4F-E873-9912-AA4E7780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B4F4-E633-5AA6-0C39-91A18437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BD16E-99CD-85E9-7A09-E21F7DDA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82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78FF-AF4E-A313-EAA3-072BFEEA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64519-D78A-B7CD-C0A5-B177DA12A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6914E-A1D7-C883-D1B4-2D4099D2D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D34F6-5690-7BA7-BFC8-053497066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DE196-4F5D-4019-B1BE-709CC4D5D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DF6026-4C08-7B83-A459-2FDB99A9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29D503-D585-6D47-0B5B-A9406AA0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5C573E-64C9-4A4C-434A-AC98A621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6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4C1A-BA90-8164-6317-936CED3E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4F9A2-4C77-A063-9350-57A3FB70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8C374-D05F-B01D-7C86-119117D68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7182D-4E77-4578-4D5C-2D9E2A18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42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CA1C0-250B-7624-8AEC-77F7EFF5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5B81D-D590-4E69-C101-C586A1A5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9279F-1F6A-2DF8-4C56-779ECD7A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06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57CF-E002-FA98-B627-F9C02CCC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C7802-24B5-52EC-8C18-89519AD04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D37AA-E187-E2A2-61B0-63473AB1C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FC071-A455-6BF1-6A6B-EEDBA42A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71CD8-9552-D8D9-E32B-D2EDD7F3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BF954-76C9-5956-AF2A-9D95EBA1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04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A395-8A5C-4971-0935-F6C37F14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94DBD-9DE8-0222-2542-8A2C8C045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0DAB3-086E-63B2-1516-774392053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5F386-D386-30E9-9099-E4DAED74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A2909-7C3C-0BAC-AC46-CDB743CD2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EB485-1B6D-2AA4-FEE9-8E137441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98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E5443-DDB2-D821-09C4-8A986448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9B731-AA29-EFE9-AAF8-25A5514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F45E3-0A47-01FD-033C-89E9F639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4A977-BF98-3042-36AB-F3BB9239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4FAD8-78AF-BF07-5B81-404D33AFE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25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78FEBA-7E43-A448-5EF4-F62C82A23F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163DE-8C89-141D-C522-50F51D967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A6C05-66FD-6616-E972-71D62390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140D8-A485-7885-31E3-E1B7AAF5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28238-FE91-027E-C824-89F9C00A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32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F1090-7696-A59A-61FF-1D72A4AF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53413-6763-BFA8-124C-918BF4A19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AC02B-5124-9C2A-7AE8-9607ABD91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2B20A-1B66-4B94-A104-7945006FC6D0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59D75-0440-A023-7831-1A195FAAA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F8FB6-B06C-4BD7-E876-F84705C30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220B5-9529-450A-A259-9D89975D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373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8FDE63-88E2-A038-BFD1-E51F5249595F}"/>
              </a:ext>
            </a:extLst>
          </p:cNvPr>
          <p:cNvSpPr/>
          <p:nvPr/>
        </p:nvSpPr>
        <p:spPr>
          <a:xfrm>
            <a:off x="407713" y="1908070"/>
            <a:ext cx="5542967" cy="3187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Schedule</a:t>
            </a:r>
          </a:p>
          <a:p>
            <a:endParaRPr lang="en-GB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Objectives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provide a customer-specific overview of the coverage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specify optional coverage extensions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specify key limits (and sub-limits) for coverages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define any endorsements to the contract wording 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templates with embedded data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sent from Policy Admin System using XML or JSON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Schedules are sent to the customer in PDF format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D7D2E7-A948-4478-BF63-D57225C62468}"/>
              </a:ext>
            </a:extLst>
          </p:cNvPr>
          <p:cNvSpPr/>
          <p:nvPr/>
        </p:nvSpPr>
        <p:spPr>
          <a:xfrm>
            <a:off x="6112320" y="1908070"/>
            <a:ext cx="5542967" cy="3187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Wording</a:t>
            </a:r>
          </a:p>
          <a:p>
            <a:endParaRPr lang="en-GB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Objectives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provide details of the coverage (standard and optional)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specify defined terms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define conditions for coverage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define exclusions to coverage 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Fixed documents in PDF form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 wordings are often an expression of the ‘product’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Wordings are sent to the customer in PDF format</a:t>
            </a:r>
          </a:p>
        </p:txBody>
      </p:sp>
    </p:spTree>
    <p:extLst>
      <p:ext uri="{BB962C8B-B14F-4D97-AF65-F5344CB8AC3E}">
        <p14:creationId xmlns:p14="http://schemas.microsoft.com/office/powerpoint/2010/main" val="4175354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7EAB-265C-757A-B157-87100778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4;p2">
            <a:extLst>
              <a:ext uri="{FF2B5EF4-FFF2-40B4-BE49-F238E27FC236}">
                <a16:creationId xmlns:a16="http://schemas.microsoft.com/office/drawing/2014/main" id="{D2C680E7-6337-5BEC-39E7-27E4CF706923}"/>
              </a:ext>
            </a:extLst>
          </p:cNvPr>
          <p:cNvSpPr txBox="1"/>
          <p:nvPr/>
        </p:nvSpPr>
        <p:spPr>
          <a:xfrm>
            <a:off x="3120942" y="4089681"/>
            <a:ext cx="16845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Unstructured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Natural </a:t>
            </a: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GB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anguage </a:t>
            </a: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GB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ontracts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F59A78CA-0C2B-A8F2-47BC-CC5D62ED03B4}"/>
              </a:ext>
            </a:extLst>
          </p:cNvPr>
          <p:cNvSpPr txBox="1"/>
          <p:nvPr/>
        </p:nvSpPr>
        <p:spPr>
          <a:xfrm>
            <a:off x="3052695" y="1930335"/>
            <a:ext cx="1857000" cy="1500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Contract 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utomation 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ystems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Contracts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GB"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NLP and Gen AI</a:t>
            </a:r>
            <a:r>
              <a:rPr lang="en-GB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6;p2">
            <a:extLst>
              <a:ext uri="{FF2B5EF4-FFF2-40B4-BE49-F238E27FC236}">
                <a16:creationId xmlns:a16="http://schemas.microsoft.com/office/drawing/2014/main" id="{F7E82605-D991-2240-5D36-5D8D74EDB25B}"/>
              </a:ext>
            </a:extLst>
          </p:cNvPr>
          <p:cNvSpPr txBox="1"/>
          <p:nvPr/>
        </p:nvSpPr>
        <p:spPr>
          <a:xfrm>
            <a:off x="5032702" y="1883308"/>
            <a:ext cx="1684500" cy="1579729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latin typeface="Arial"/>
                <a:ea typeface="Arial"/>
                <a:cs typeface="Arial"/>
                <a:sym typeface="Arial"/>
              </a:rPr>
              <a:t>Computable </a:t>
            </a:r>
            <a:endParaRPr sz="1400" b="1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latin typeface="Arial"/>
                <a:ea typeface="Arial"/>
                <a:cs typeface="Arial"/>
                <a:sym typeface="Arial"/>
              </a:rPr>
              <a:t>Contracts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GB" sz="1200" b="1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Markup Languages</a:t>
            </a:r>
            <a:endParaRPr lang="en-GB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GB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CNLs (some DSLs)</a:t>
            </a:r>
            <a:endParaRPr lang="en-GB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7;p2">
            <a:extLst>
              <a:ext uri="{FF2B5EF4-FFF2-40B4-BE49-F238E27FC236}">
                <a16:creationId xmlns:a16="http://schemas.microsoft.com/office/drawing/2014/main" id="{5E0B55F1-11BF-DDCF-5D2D-EFA7DE7DDBF6}"/>
              </a:ext>
            </a:extLst>
          </p:cNvPr>
          <p:cNvSpPr txBox="1"/>
          <p:nvPr/>
        </p:nvSpPr>
        <p:spPr>
          <a:xfrm>
            <a:off x="4946452" y="3596079"/>
            <a:ext cx="1857000" cy="16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 Assembly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Clause Libraries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18;p2">
            <a:extLst>
              <a:ext uri="{FF2B5EF4-FFF2-40B4-BE49-F238E27FC236}">
                <a16:creationId xmlns:a16="http://schemas.microsoft.com/office/drawing/2014/main" id="{69729FA2-8B3A-FEAB-F852-4AFF90C1C983}"/>
              </a:ext>
            </a:extLst>
          </p:cNvPr>
          <p:cNvSpPr txBox="1"/>
          <p:nvPr/>
        </p:nvSpPr>
        <p:spPr>
          <a:xfrm>
            <a:off x="1723487" y="3160800"/>
            <a:ext cx="1303323" cy="66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Extent </a:t>
            </a:r>
            <a:r>
              <a:rPr lang="en-GB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endParaRPr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Contract Computability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119;p2">
            <a:extLst>
              <a:ext uri="{FF2B5EF4-FFF2-40B4-BE49-F238E27FC236}">
                <a16:creationId xmlns:a16="http://schemas.microsoft.com/office/drawing/2014/main" id="{0A7FBA12-02AF-B8B2-8474-3779FBF3B125}"/>
              </a:ext>
            </a:extLst>
          </p:cNvPr>
          <p:cNvCxnSpPr/>
          <p:nvPr/>
        </p:nvCxnSpPr>
        <p:spPr>
          <a:xfrm>
            <a:off x="2949983" y="5293319"/>
            <a:ext cx="3897235" cy="0"/>
          </a:xfrm>
          <a:prstGeom prst="straightConnector1">
            <a:avLst/>
          </a:prstGeom>
          <a:noFill/>
          <a:ln w="666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" name="Google Shape;120;p2">
            <a:extLst>
              <a:ext uri="{FF2B5EF4-FFF2-40B4-BE49-F238E27FC236}">
                <a16:creationId xmlns:a16="http://schemas.microsoft.com/office/drawing/2014/main" id="{2EE31952-4092-A7D5-374B-0F6D7CD152C4}"/>
              </a:ext>
            </a:extLst>
          </p:cNvPr>
          <p:cNvCxnSpPr/>
          <p:nvPr/>
        </p:nvCxnSpPr>
        <p:spPr>
          <a:xfrm rot="10800000">
            <a:off x="2983078" y="1620095"/>
            <a:ext cx="1" cy="3685884"/>
          </a:xfrm>
          <a:prstGeom prst="straightConnector1">
            <a:avLst/>
          </a:prstGeom>
          <a:noFill/>
          <a:ln w="66675" cap="flat" cmpd="sng">
            <a:solidFill>
              <a:schemeClr val="bg1">
                <a:lumMod val="50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" name="Google Shape;121;p2">
            <a:extLst>
              <a:ext uri="{FF2B5EF4-FFF2-40B4-BE49-F238E27FC236}">
                <a16:creationId xmlns:a16="http://schemas.microsoft.com/office/drawing/2014/main" id="{1AC31AD1-2852-E616-66AA-70B3D0E9AE98}"/>
              </a:ext>
            </a:extLst>
          </p:cNvPr>
          <p:cNvSpPr txBox="1"/>
          <p:nvPr/>
        </p:nvSpPr>
        <p:spPr>
          <a:xfrm>
            <a:off x="3120942" y="5397625"/>
            <a:ext cx="3596260" cy="29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Extent of Modularisation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22;p2">
            <a:extLst>
              <a:ext uri="{FF2B5EF4-FFF2-40B4-BE49-F238E27FC236}">
                <a16:creationId xmlns:a16="http://schemas.microsoft.com/office/drawing/2014/main" id="{F93ED444-2F58-F26C-351D-CC51130F5F6A}"/>
              </a:ext>
            </a:extLst>
          </p:cNvPr>
          <p:cNvCxnSpPr/>
          <p:nvPr/>
        </p:nvCxnSpPr>
        <p:spPr>
          <a:xfrm>
            <a:off x="3059799" y="3551660"/>
            <a:ext cx="3528219" cy="0"/>
          </a:xfrm>
          <a:prstGeom prst="straightConnector1">
            <a:avLst/>
          </a:prstGeom>
          <a:noFill/>
          <a:ln w="34925" cap="flat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1" name="Google Shape;123;p2">
            <a:extLst>
              <a:ext uri="{FF2B5EF4-FFF2-40B4-BE49-F238E27FC236}">
                <a16:creationId xmlns:a16="http://schemas.microsoft.com/office/drawing/2014/main" id="{43A45611-AA49-3C44-BEAF-A911485BDEC6}"/>
              </a:ext>
            </a:extLst>
          </p:cNvPr>
          <p:cNvCxnSpPr/>
          <p:nvPr/>
        </p:nvCxnSpPr>
        <p:spPr>
          <a:xfrm rot="10800000">
            <a:off x="4857213" y="1899879"/>
            <a:ext cx="0" cy="3310541"/>
          </a:xfrm>
          <a:prstGeom prst="straightConnector1">
            <a:avLst/>
          </a:prstGeom>
          <a:noFill/>
          <a:ln w="34925" cap="flat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8" name="Google Shape;131;p2">
            <a:extLst>
              <a:ext uri="{FF2B5EF4-FFF2-40B4-BE49-F238E27FC236}">
                <a16:creationId xmlns:a16="http://schemas.microsoft.com/office/drawing/2014/main" id="{663DD046-0950-69B1-01D5-AE446579473F}"/>
              </a:ext>
            </a:extLst>
          </p:cNvPr>
          <p:cNvSpPr/>
          <p:nvPr/>
        </p:nvSpPr>
        <p:spPr>
          <a:xfrm>
            <a:off x="3063689" y="5355514"/>
            <a:ext cx="659638" cy="392134"/>
          </a:xfrm>
          <a:prstGeom prst="rightArrow">
            <a:avLst>
              <a:gd name="adj1" fmla="val 51704"/>
              <a:gd name="adj2" fmla="val 3977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32;p2">
            <a:extLst>
              <a:ext uri="{FF2B5EF4-FFF2-40B4-BE49-F238E27FC236}">
                <a16:creationId xmlns:a16="http://schemas.microsoft.com/office/drawing/2014/main" id="{C6C82907-1551-4F6A-8FF7-17E2994EBE76}"/>
              </a:ext>
            </a:extLst>
          </p:cNvPr>
          <p:cNvSpPr/>
          <p:nvPr/>
        </p:nvSpPr>
        <p:spPr>
          <a:xfrm rot="-5400000">
            <a:off x="2354370" y="4780093"/>
            <a:ext cx="659638" cy="392134"/>
          </a:xfrm>
          <a:prstGeom prst="rightArrow">
            <a:avLst>
              <a:gd name="adj1" fmla="val 51704"/>
              <a:gd name="adj2" fmla="val 3977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28;p2">
            <a:extLst>
              <a:ext uri="{FF2B5EF4-FFF2-40B4-BE49-F238E27FC236}">
                <a16:creationId xmlns:a16="http://schemas.microsoft.com/office/drawing/2014/main" id="{11BEF097-A466-DB0D-FFEE-1BC79E07B3B3}"/>
              </a:ext>
            </a:extLst>
          </p:cNvPr>
          <p:cNvSpPr/>
          <p:nvPr/>
        </p:nvSpPr>
        <p:spPr>
          <a:xfrm rot="-5400000">
            <a:off x="5579305" y="3171164"/>
            <a:ext cx="591295" cy="647343"/>
          </a:xfrm>
          <a:prstGeom prst="rightArrow">
            <a:avLst>
              <a:gd name="adj1" fmla="val 51704"/>
              <a:gd name="adj2" fmla="val 3977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8;p2">
            <a:extLst>
              <a:ext uri="{FF2B5EF4-FFF2-40B4-BE49-F238E27FC236}">
                <a16:creationId xmlns:a16="http://schemas.microsoft.com/office/drawing/2014/main" id="{18CA9C04-62A1-3044-0748-373CE1614A75}"/>
              </a:ext>
            </a:extLst>
          </p:cNvPr>
          <p:cNvSpPr/>
          <p:nvPr/>
        </p:nvSpPr>
        <p:spPr>
          <a:xfrm rot="-5400000">
            <a:off x="3667544" y="3187379"/>
            <a:ext cx="591295" cy="647343"/>
          </a:xfrm>
          <a:prstGeom prst="rightArrow">
            <a:avLst>
              <a:gd name="adj1" fmla="val 51704"/>
              <a:gd name="adj2" fmla="val 3977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28;p2">
            <a:extLst>
              <a:ext uri="{FF2B5EF4-FFF2-40B4-BE49-F238E27FC236}">
                <a16:creationId xmlns:a16="http://schemas.microsoft.com/office/drawing/2014/main" id="{A254EC67-4F6A-24F1-26B0-BB0AD616DC90}"/>
              </a:ext>
            </a:extLst>
          </p:cNvPr>
          <p:cNvSpPr/>
          <p:nvPr/>
        </p:nvSpPr>
        <p:spPr>
          <a:xfrm>
            <a:off x="4623424" y="4089681"/>
            <a:ext cx="591295" cy="647343"/>
          </a:xfrm>
          <a:prstGeom prst="rightArrow">
            <a:avLst>
              <a:gd name="adj1" fmla="val 51704"/>
              <a:gd name="adj2" fmla="val 3977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88A459-8EC0-8C7C-EA6A-DC742A2958A8}"/>
              </a:ext>
            </a:extLst>
          </p:cNvPr>
          <p:cNvSpPr/>
          <p:nvPr/>
        </p:nvSpPr>
        <p:spPr>
          <a:xfrm>
            <a:off x="3843512" y="3429613"/>
            <a:ext cx="239359" cy="2393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7D2B2CB-9B99-A2F1-1D22-27FBD2974B66}"/>
              </a:ext>
            </a:extLst>
          </p:cNvPr>
          <p:cNvSpPr/>
          <p:nvPr/>
        </p:nvSpPr>
        <p:spPr>
          <a:xfrm>
            <a:off x="4737532" y="4293672"/>
            <a:ext cx="239359" cy="2393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6E3C9AD-D659-BED8-6BA1-2FF6A104302F}"/>
              </a:ext>
            </a:extLst>
          </p:cNvPr>
          <p:cNvSpPr/>
          <p:nvPr/>
        </p:nvSpPr>
        <p:spPr>
          <a:xfrm>
            <a:off x="5755273" y="3429613"/>
            <a:ext cx="239359" cy="2393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" name="Google Shape;118;p2">
            <a:extLst>
              <a:ext uri="{FF2B5EF4-FFF2-40B4-BE49-F238E27FC236}">
                <a16:creationId xmlns:a16="http://schemas.microsoft.com/office/drawing/2014/main" id="{F8C6CA81-BA88-8CBB-F216-100055A4E3D2}"/>
              </a:ext>
            </a:extLst>
          </p:cNvPr>
          <p:cNvSpPr txBox="1"/>
          <p:nvPr/>
        </p:nvSpPr>
        <p:spPr>
          <a:xfrm>
            <a:off x="2684189" y="946229"/>
            <a:ext cx="3972385" cy="668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Contract Innovation Landscape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8;p6">
            <a:extLst>
              <a:ext uri="{FF2B5EF4-FFF2-40B4-BE49-F238E27FC236}">
                <a16:creationId xmlns:a16="http://schemas.microsoft.com/office/drawing/2014/main" id="{5376DF76-5187-6662-16A0-5FE3FC0C99C0}"/>
              </a:ext>
            </a:extLst>
          </p:cNvPr>
          <p:cNvSpPr/>
          <p:nvPr/>
        </p:nvSpPr>
        <p:spPr>
          <a:xfrm>
            <a:off x="7267914" y="1027509"/>
            <a:ext cx="3347052" cy="1514412"/>
          </a:xfrm>
          <a:prstGeom prst="roundRect">
            <a:avLst>
              <a:gd name="adj" fmla="val 811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spcFirstLastPara="1" wrap="square" lIns="72000" tIns="144000" rIns="72000" bIns="144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 dirty="0">
                <a:latin typeface="Arial"/>
                <a:ea typeface="Arial"/>
                <a:cs typeface="Arial"/>
                <a:sym typeface="Arial"/>
              </a:rPr>
              <a:t>Automation around the Contract</a:t>
            </a:r>
            <a:endParaRPr sz="1400" b="1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Essentially, the contract remains unchanged and any automation is peripheral to the contract object</a:t>
            </a:r>
            <a:endParaRPr lang="en-GB" sz="1100" dirty="0">
              <a:latin typeface="Arial"/>
              <a:ea typeface="Arial"/>
              <a:cs typeface="Arial"/>
              <a:sym typeface="Arial"/>
            </a:endParaRP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b="1" i="0" u="none" strike="noStrike" cap="none" dirty="0">
                <a:latin typeface="Arial"/>
                <a:ea typeface="Arial"/>
                <a:cs typeface="Arial"/>
                <a:sym typeface="Arial"/>
              </a:rPr>
              <a:t>Smart contracts </a:t>
            </a:r>
            <a:r>
              <a:rPr lang="en-GB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– separate representation of contract often focussing on contract performance</a:t>
            </a: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/>
                <a:ea typeface="Arial"/>
                <a:cs typeface="Arial"/>
                <a:sym typeface="Arial"/>
              </a:rPr>
              <a:t>NLP and Gen AI </a:t>
            </a:r>
            <a:r>
              <a:rPr lang="en-GB" sz="1100" dirty="0">
                <a:latin typeface="Arial"/>
                <a:ea typeface="Arial"/>
                <a:cs typeface="Arial"/>
                <a:sym typeface="Arial"/>
              </a:rPr>
              <a:t>– seeing increasing use for basic queries</a:t>
            </a:r>
            <a:endParaRPr sz="11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CCC0534-F951-9DB4-D14A-A96F4CAC0E53}"/>
              </a:ext>
            </a:extLst>
          </p:cNvPr>
          <p:cNvSpPr/>
          <p:nvPr/>
        </p:nvSpPr>
        <p:spPr>
          <a:xfrm>
            <a:off x="6963881" y="1665035"/>
            <a:ext cx="239359" cy="2393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Google Shape;248;p6">
            <a:extLst>
              <a:ext uri="{FF2B5EF4-FFF2-40B4-BE49-F238E27FC236}">
                <a16:creationId xmlns:a16="http://schemas.microsoft.com/office/drawing/2014/main" id="{7F993641-2C90-5FB7-178A-1437D7A9FA9C}"/>
              </a:ext>
            </a:extLst>
          </p:cNvPr>
          <p:cNvSpPr/>
          <p:nvPr/>
        </p:nvSpPr>
        <p:spPr>
          <a:xfrm>
            <a:off x="7266177" y="2711253"/>
            <a:ext cx="3347052" cy="1374059"/>
          </a:xfrm>
          <a:prstGeom prst="roundRect">
            <a:avLst>
              <a:gd name="adj" fmla="val 811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spcFirstLastPara="1" wrap="square" lIns="72000" tIns="144000" rIns="72000" bIns="144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 dirty="0">
                <a:latin typeface="Arial"/>
                <a:ea typeface="Arial"/>
                <a:cs typeface="Arial"/>
                <a:sym typeface="Arial"/>
              </a:rPr>
              <a:t>Basic Modularisation of the Contract</a:t>
            </a:r>
            <a:endParaRPr sz="1400" b="1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Here, the focus is on breaking the contract down into smaller objects with some metadata.</a:t>
            </a: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dirty="0">
                <a:latin typeface="Arial"/>
                <a:ea typeface="Arial"/>
                <a:cs typeface="Arial"/>
                <a:sym typeface="Arial"/>
              </a:rPr>
              <a:t>There is limited application of sematic</a:t>
            </a:r>
            <a:r>
              <a:rPr lang="en-GB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 enrichment beyond metadata application.</a:t>
            </a: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/>
                <a:ea typeface="Arial"/>
                <a:cs typeface="Arial"/>
                <a:sym typeface="Arial"/>
              </a:rPr>
              <a:t>Document Assembly </a:t>
            </a:r>
            <a:r>
              <a:rPr lang="en-GB" sz="1100" dirty="0">
                <a:latin typeface="Arial"/>
                <a:ea typeface="Arial"/>
                <a:cs typeface="Arial"/>
                <a:sym typeface="Arial"/>
              </a:rPr>
              <a:t>– ‘Configuration intelligence’ is hardwired into the system</a:t>
            </a:r>
            <a:endParaRPr lang="en-GB" sz="11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A704F5D-F46F-D3D1-36F1-D007FD99B0AF}"/>
              </a:ext>
            </a:extLst>
          </p:cNvPr>
          <p:cNvSpPr/>
          <p:nvPr/>
        </p:nvSpPr>
        <p:spPr>
          <a:xfrm>
            <a:off x="6968066" y="3278603"/>
            <a:ext cx="239359" cy="2393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9" name="Google Shape;248;p6">
            <a:extLst>
              <a:ext uri="{FF2B5EF4-FFF2-40B4-BE49-F238E27FC236}">
                <a16:creationId xmlns:a16="http://schemas.microsoft.com/office/drawing/2014/main" id="{B0172DC4-CBB0-7C9F-D04C-87C47EAB6A1F}"/>
              </a:ext>
            </a:extLst>
          </p:cNvPr>
          <p:cNvSpPr/>
          <p:nvPr/>
        </p:nvSpPr>
        <p:spPr>
          <a:xfrm>
            <a:off x="7261993" y="4260020"/>
            <a:ext cx="3347052" cy="1876619"/>
          </a:xfrm>
          <a:prstGeom prst="roundRect">
            <a:avLst>
              <a:gd name="adj" fmla="val 8114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spcFirstLastPara="1" wrap="square" lIns="72000" tIns="144000" rIns="72000" bIns="144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1" i="0" u="none" strike="noStrike" cap="none" dirty="0">
                <a:latin typeface="Arial"/>
                <a:ea typeface="Arial"/>
                <a:cs typeface="Arial"/>
                <a:sym typeface="Arial"/>
              </a:rPr>
              <a:t>Establishing Computable Contracts</a:t>
            </a:r>
            <a:endParaRPr sz="1400" b="1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Computable contracts have much of the ‘intelligence’ built into the objects</a:t>
            </a: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dirty="0">
                <a:latin typeface="Arial"/>
                <a:ea typeface="Arial"/>
                <a:cs typeface="Arial"/>
                <a:sym typeface="Arial"/>
              </a:rPr>
              <a:t>High levels of systems interoperability</a:t>
            </a:r>
            <a:endParaRPr lang="en-GB" sz="11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/>
                <a:ea typeface="Arial"/>
                <a:cs typeface="Arial"/>
                <a:sym typeface="Arial"/>
              </a:rPr>
              <a:t>Markup </a:t>
            </a:r>
            <a:r>
              <a:rPr lang="en-GB" sz="1100" dirty="0">
                <a:latin typeface="Arial"/>
                <a:ea typeface="Arial"/>
                <a:cs typeface="Arial"/>
                <a:sym typeface="Arial"/>
              </a:rPr>
              <a:t>– Application of structured authoring and graph-based approaches (with semantic enrichment)</a:t>
            </a:r>
          </a:p>
          <a:p>
            <a:pPr marL="108000" indent="-108000"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100" b="1" i="0" u="none" strike="noStrike" cap="none" dirty="0">
                <a:latin typeface="Arial"/>
                <a:ea typeface="Arial"/>
                <a:cs typeface="Arial"/>
                <a:sym typeface="Arial"/>
              </a:rPr>
              <a:t>Controlled Natural Languages </a:t>
            </a:r>
            <a:r>
              <a:rPr lang="en-GB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and Domain-specific Languages e.g. </a:t>
            </a:r>
            <a:r>
              <a:rPr lang="en-GB" sz="11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InsurLE</a:t>
            </a:r>
            <a:r>
              <a:rPr lang="en-GB" sz="1100" b="0" i="0" u="none" strike="noStrike" cap="none" dirty="0">
                <a:latin typeface="Arial"/>
                <a:ea typeface="Arial"/>
                <a:cs typeface="Arial"/>
                <a:sym typeface="Arial"/>
              </a:rPr>
              <a:t> for exposing contract logic 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4579A91-AEA3-60CB-B834-CB365B78AEB2}"/>
              </a:ext>
            </a:extLst>
          </p:cNvPr>
          <p:cNvSpPr/>
          <p:nvPr/>
        </p:nvSpPr>
        <p:spPr>
          <a:xfrm>
            <a:off x="6963880" y="4942717"/>
            <a:ext cx="239359" cy="239359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A4FB1D-4FBD-B9D9-4281-8BB6242EED44}"/>
              </a:ext>
            </a:extLst>
          </p:cNvPr>
          <p:cNvSpPr/>
          <p:nvPr/>
        </p:nvSpPr>
        <p:spPr>
          <a:xfrm>
            <a:off x="1788160" y="792481"/>
            <a:ext cx="8927253" cy="551555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77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F5D414-2B75-D7AE-2B70-6C0489BF81A1}"/>
              </a:ext>
            </a:extLst>
          </p:cNvPr>
          <p:cNvSpPr/>
          <p:nvPr/>
        </p:nvSpPr>
        <p:spPr>
          <a:xfrm>
            <a:off x="1288774" y="1346396"/>
            <a:ext cx="4536629" cy="28330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94EFF-7D88-5CE1-64B2-C181D84959DD}"/>
              </a:ext>
            </a:extLst>
          </p:cNvPr>
          <p:cNvSpPr txBox="1"/>
          <p:nvPr/>
        </p:nvSpPr>
        <p:spPr>
          <a:xfrm>
            <a:off x="1288774" y="946286"/>
            <a:ext cx="3339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Coverage against all possible risks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38C8C9-2A7B-5020-1A77-E15B31765037}"/>
              </a:ext>
            </a:extLst>
          </p:cNvPr>
          <p:cNvSpPr txBox="1"/>
          <p:nvPr/>
        </p:nvSpPr>
        <p:spPr>
          <a:xfrm>
            <a:off x="5947720" y="1346396"/>
            <a:ext cx="34604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 = </a:t>
            </a:r>
            <a:r>
              <a:rPr lang="en-GB" sz="1600" dirty="0">
                <a:solidFill>
                  <a:srgbClr val="202124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overage risks in insuring clause </a:t>
            </a:r>
          </a:p>
          <a:p>
            <a:r>
              <a:rPr lang="en-GB" sz="1600" dirty="0">
                <a:solidFill>
                  <a:srgbClr val="202124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 = Coverage Extensions</a:t>
            </a:r>
          </a:p>
          <a:p>
            <a:r>
              <a:rPr lang="en-GB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 = General Exclusion</a:t>
            </a:r>
          </a:p>
          <a:p>
            <a:r>
              <a:rPr lang="en-GB" sz="1600" dirty="0">
                <a:solidFill>
                  <a:srgbClr val="202124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1600" baseline="-25000" dirty="0">
                <a:solidFill>
                  <a:srgbClr val="202124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GB" sz="1600" dirty="0">
                <a:solidFill>
                  <a:srgbClr val="202124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= Writeback for Exclusion E</a:t>
            </a:r>
            <a:endParaRPr lang="en-GB" sz="1600" b="0" i="0" baseline="-25000" dirty="0">
              <a:solidFill>
                <a:srgbClr val="202124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 = Violation of General Condition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BC30A4-B17A-5A39-00DB-F6AF7F482634}"/>
              </a:ext>
            </a:extLst>
          </p:cNvPr>
          <p:cNvSpPr/>
          <p:nvPr/>
        </p:nvSpPr>
        <p:spPr>
          <a:xfrm>
            <a:off x="2374905" y="2511833"/>
            <a:ext cx="2489212" cy="14491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243B3E-4ED9-E651-6388-96473A139D20}"/>
              </a:ext>
            </a:extLst>
          </p:cNvPr>
          <p:cNvSpPr/>
          <p:nvPr/>
        </p:nvSpPr>
        <p:spPr>
          <a:xfrm>
            <a:off x="2023562" y="1568523"/>
            <a:ext cx="3191899" cy="75552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18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0FF11A-3B41-EF1D-B0A3-0A7A89CFEFBD}"/>
              </a:ext>
            </a:extLst>
          </p:cNvPr>
          <p:cNvSpPr/>
          <p:nvPr/>
        </p:nvSpPr>
        <p:spPr>
          <a:xfrm>
            <a:off x="2497222" y="2194118"/>
            <a:ext cx="949478" cy="1122594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735E7B5-3EC2-A40B-967B-74A8C21AFA0A}"/>
              </a:ext>
            </a:extLst>
          </p:cNvPr>
          <p:cNvSpPr/>
          <p:nvPr/>
        </p:nvSpPr>
        <p:spPr>
          <a:xfrm>
            <a:off x="2706814" y="2918630"/>
            <a:ext cx="543034" cy="3329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1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EB86BE-AF0B-780A-0F09-7EAEDE817A89}"/>
              </a:ext>
            </a:extLst>
          </p:cNvPr>
          <p:cNvSpPr/>
          <p:nvPr/>
        </p:nvSpPr>
        <p:spPr>
          <a:xfrm>
            <a:off x="3744871" y="2194118"/>
            <a:ext cx="949478" cy="1122594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GB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E10206-5D78-5F18-4A88-414384525F83}"/>
              </a:ext>
            </a:extLst>
          </p:cNvPr>
          <p:cNvSpPr/>
          <p:nvPr/>
        </p:nvSpPr>
        <p:spPr>
          <a:xfrm>
            <a:off x="1151466" y="887307"/>
            <a:ext cx="8316579" cy="351536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82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38AB-FE81-FA7A-451E-ACBF9138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E765D86-010B-0A20-AE15-F30526782730}"/>
              </a:ext>
            </a:extLst>
          </p:cNvPr>
          <p:cNvCxnSpPr>
            <a:cxnSpLocks/>
          </p:cNvCxnSpPr>
          <p:nvPr/>
        </p:nvCxnSpPr>
        <p:spPr>
          <a:xfrm>
            <a:off x="3893822" y="1728247"/>
            <a:ext cx="0" cy="193200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D2CDA5DB-B860-4A7D-EB65-DE35C6D0AAAA}"/>
              </a:ext>
            </a:extLst>
          </p:cNvPr>
          <p:cNvSpPr/>
          <p:nvPr/>
        </p:nvSpPr>
        <p:spPr>
          <a:xfrm>
            <a:off x="3791409" y="3494784"/>
            <a:ext cx="204825" cy="171152"/>
          </a:xfrm>
          <a:prstGeom prst="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E8D21B9-27A6-BB25-AAA2-E302F94EBE49}"/>
              </a:ext>
            </a:extLst>
          </p:cNvPr>
          <p:cNvSpPr/>
          <p:nvPr/>
        </p:nvSpPr>
        <p:spPr>
          <a:xfrm>
            <a:off x="3825241" y="3357624"/>
            <a:ext cx="137160" cy="13716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BF7B53A-E537-A3CD-40AF-D0068F9F6583}"/>
              </a:ext>
            </a:extLst>
          </p:cNvPr>
          <p:cNvCxnSpPr>
            <a:cxnSpLocks/>
          </p:cNvCxnSpPr>
          <p:nvPr/>
        </p:nvCxnSpPr>
        <p:spPr>
          <a:xfrm flipH="1">
            <a:off x="3800169" y="1843475"/>
            <a:ext cx="196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C25F7A-A280-D477-7717-6214236EC2B3}"/>
              </a:ext>
            </a:extLst>
          </p:cNvPr>
          <p:cNvCxnSpPr>
            <a:cxnSpLocks/>
          </p:cNvCxnSpPr>
          <p:nvPr/>
        </p:nvCxnSpPr>
        <p:spPr>
          <a:xfrm>
            <a:off x="2872149" y="1728247"/>
            <a:ext cx="0" cy="56404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BF9D92C9-62F8-2A26-7AD3-BAF49F0D8CB5}"/>
              </a:ext>
            </a:extLst>
          </p:cNvPr>
          <p:cNvSpPr/>
          <p:nvPr/>
        </p:nvSpPr>
        <p:spPr>
          <a:xfrm>
            <a:off x="2769737" y="2121141"/>
            <a:ext cx="204825" cy="171152"/>
          </a:xfrm>
          <a:prstGeom prst="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3EDC0CC-6412-B3E8-D00F-7A0204A6A43C}"/>
              </a:ext>
            </a:extLst>
          </p:cNvPr>
          <p:cNvSpPr/>
          <p:nvPr/>
        </p:nvSpPr>
        <p:spPr>
          <a:xfrm>
            <a:off x="2803569" y="1983981"/>
            <a:ext cx="137160" cy="13716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5B3D41-E8C2-BC8E-715A-05E14F968B77}"/>
              </a:ext>
            </a:extLst>
          </p:cNvPr>
          <p:cNvCxnSpPr>
            <a:cxnSpLocks/>
          </p:cNvCxnSpPr>
          <p:nvPr/>
        </p:nvCxnSpPr>
        <p:spPr>
          <a:xfrm flipH="1">
            <a:off x="2778496" y="1843475"/>
            <a:ext cx="196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63ACB19-9957-615C-431A-CAC09EB6714C}"/>
              </a:ext>
            </a:extLst>
          </p:cNvPr>
          <p:cNvSpPr/>
          <p:nvPr/>
        </p:nvSpPr>
        <p:spPr>
          <a:xfrm>
            <a:off x="1714502" y="2009028"/>
            <a:ext cx="690880" cy="579120"/>
          </a:xfrm>
          <a:custGeom>
            <a:avLst/>
            <a:gdLst>
              <a:gd name="connsiteX0" fmla="*/ 690880 w 690880"/>
              <a:gd name="connsiteY0" fmla="*/ 284480 h 579120"/>
              <a:gd name="connsiteX1" fmla="*/ 690880 w 690880"/>
              <a:gd name="connsiteY1" fmla="*/ 0 h 579120"/>
              <a:gd name="connsiteX2" fmla="*/ 0 w 690880"/>
              <a:gd name="connsiteY2" fmla="*/ 0 h 579120"/>
              <a:gd name="connsiteX3" fmla="*/ 0 w 690880"/>
              <a:gd name="connsiteY3" fmla="*/ 579120 h 579120"/>
              <a:gd name="connsiteX4" fmla="*/ 365760 w 690880"/>
              <a:gd name="connsiteY4" fmla="*/ 579120 h 579120"/>
              <a:gd name="connsiteX5" fmla="*/ 365760 w 690880"/>
              <a:gd name="connsiteY5" fmla="*/ 579120 h 579120"/>
              <a:gd name="connsiteX6" fmla="*/ 365760 w 690880"/>
              <a:gd name="connsiteY6" fmla="*/ 57912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0880" h="579120">
                <a:moveTo>
                  <a:pt x="690880" y="284480"/>
                </a:moveTo>
                <a:lnTo>
                  <a:pt x="690880" y="0"/>
                </a:lnTo>
                <a:lnTo>
                  <a:pt x="0" y="0"/>
                </a:lnTo>
                <a:lnTo>
                  <a:pt x="0" y="579120"/>
                </a:lnTo>
                <a:lnTo>
                  <a:pt x="365760" y="579120"/>
                </a:lnTo>
                <a:lnTo>
                  <a:pt x="365760" y="579120"/>
                </a:lnTo>
                <a:lnTo>
                  <a:pt x="365760" y="57912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7CB8AEE-611E-20D4-C5C0-4E4CA5E5EDA3}"/>
              </a:ext>
            </a:extLst>
          </p:cNvPr>
          <p:cNvSpPr/>
          <p:nvPr/>
        </p:nvSpPr>
        <p:spPr>
          <a:xfrm>
            <a:off x="2331095" y="1983981"/>
            <a:ext cx="137160" cy="13716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DFC9E20-7138-FC3F-6A51-7013C042B23E}"/>
              </a:ext>
            </a:extLst>
          </p:cNvPr>
          <p:cNvCxnSpPr>
            <a:cxnSpLocks/>
          </p:cNvCxnSpPr>
          <p:nvPr/>
        </p:nvCxnSpPr>
        <p:spPr>
          <a:xfrm flipH="1">
            <a:off x="2307349" y="2206717"/>
            <a:ext cx="196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453BB97-9D47-EDE6-5B90-52906D2DFF34}"/>
              </a:ext>
            </a:extLst>
          </p:cNvPr>
          <p:cNvSpPr/>
          <p:nvPr/>
        </p:nvSpPr>
        <p:spPr>
          <a:xfrm>
            <a:off x="1778109" y="2519402"/>
            <a:ext cx="137160" cy="13716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BD9F2639-AC96-F167-BD0A-18D28C4E5D62}"/>
              </a:ext>
            </a:extLst>
          </p:cNvPr>
          <p:cNvSpPr/>
          <p:nvPr/>
        </p:nvSpPr>
        <p:spPr>
          <a:xfrm rot="16200000">
            <a:off x="1893597" y="2499503"/>
            <a:ext cx="204825" cy="171152"/>
          </a:xfrm>
          <a:prstGeom prst="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83A4F045-1FCE-3B15-3013-BD7C6F2F5405}"/>
              </a:ext>
            </a:extLst>
          </p:cNvPr>
          <p:cNvCxnSpPr>
            <a:cxnSpLocks/>
            <a:stCxn id="65" idx="2"/>
          </p:cNvCxnSpPr>
          <p:nvPr/>
        </p:nvCxnSpPr>
        <p:spPr>
          <a:xfrm rot="16200000" flipH="1">
            <a:off x="2457782" y="3261191"/>
            <a:ext cx="798115" cy="3"/>
          </a:xfrm>
          <a:prstGeom prst="bentConnector3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0614164-DA68-6EA3-ADBE-6CA71CFFE444}"/>
              </a:ext>
            </a:extLst>
          </p:cNvPr>
          <p:cNvCxnSpPr>
            <a:cxnSpLocks/>
          </p:cNvCxnSpPr>
          <p:nvPr/>
        </p:nvCxnSpPr>
        <p:spPr>
          <a:xfrm flipH="1">
            <a:off x="2758804" y="2971820"/>
            <a:ext cx="196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DA5B527-E3BB-F6BB-DED4-81CB7FCB3C88}"/>
              </a:ext>
            </a:extLst>
          </p:cNvPr>
          <p:cNvSpPr/>
          <p:nvPr/>
        </p:nvSpPr>
        <p:spPr>
          <a:xfrm>
            <a:off x="2788259" y="3043493"/>
            <a:ext cx="137160" cy="13716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403669DC-77C6-3812-2BD8-E1A00FE9F947}"/>
              </a:ext>
            </a:extLst>
          </p:cNvPr>
          <p:cNvSpPr/>
          <p:nvPr/>
        </p:nvSpPr>
        <p:spPr>
          <a:xfrm>
            <a:off x="2754426" y="3499930"/>
            <a:ext cx="204825" cy="171152"/>
          </a:xfrm>
          <a:prstGeom prst="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39942E6-7D63-99F3-9D67-491E79E22817}"/>
              </a:ext>
            </a:extLst>
          </p:cNvPr>
          <p:cNvSpPr/>
          <p:nvPr/>
        </p:nvSpPr>
        <p:spPr>
          <a:xfrm>
            <a:off x="2788258" y="3362771"/>
            <a:ext cx="137160" cy="13716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2D3FBA8-D91E-8C6F-5923-3F8D6B971C20}"/>
              </a:ext>
            </a:extLst>
          </p:cNvPr>
          <p:cNvCxnSpPr>
            <a:cxnSpLocks/>
          </p:cNvCxnSpPr>
          <p:nvPr/>
        </p:nvCxnSpPr>
        <p:spPr>
          <a:xfrm>
            <a:off x="3359994" y="4230345"/>
            <a:ext cx="1" cy="57043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ED657C1E-C229-4669-6677-1FA94F4A97DA}"/>
              </a:ext>
            </a:extLst>
          </p:cNvPr>
          <p:cNvSpPr/>
          <p:nvPr/>
        </p:nvSpPr>
        <p:spPr>
          <a:xfrm>
            <a:off x="3257583" y="4625705"/>
            <a:ext cx="204825" cy="174887"/>
          </a:xfrm>
          <a:prstGeom prst="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FBDFD13-51BF-83C7-825D-45E2EFE0BD59}"/>
              </a:ext>
            </a:extLst>
          </p:cNvPr>
          <p:cNvSpPr/>
          <p:nvPr/>
        </p:nvSpPr>
        <p:spPr>
          <a:xfrm>
            <a:off x="3291415" y="4365132"/>
            <a:ext cx="137160" cy="14015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EAD867B-7E0E-C5AD-8711-B96E992984A4}"/>
              </a:ext>
            </a:extLst>
          </p:cNvPr>
          <p:cNvCxnSpPr>
            <a:cxnSpLocks/>
          </p:cNvCxnSpPr>
          <p:nvPr/>
        </p:nvCxnSpPr>
        <p:spPr>
          <a:xfrm flipH="1">
            <a:off x="3261962" y="4240120"/>
            <a:ext cx="196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74E9212-2E74-1121-C237-233BC5AB1185}"/>
              </a:ext>
            </a:extLst>
          </p:cNvPr>
          <p:cNvCxnSpPr>
            <a:cxnSpLocks/>
          </p:cNvCxnSpPr>
          <p:nvPr/>
        </p:nvCxnSpPr>
        <p:spPr>
          <a:xfrm flipH="1">
            <a:off x="3261962" y="4627217"/>
            <a:ext cx="196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5288E68-B18E-9B03-1531-87B9F971CEFF}"/>
              </a:ext>
            </a:extLst>
          </p:cNvPr>
          <p:cNvCxnSpPr>
            <a:cxnSpLocks/>
          </p:cNvCxnSpPr>
          <p:nvPr/>
        </p:nvCxnSpPr>
        <p:spPr>
          <a:xfrm flipH="1">
            <a:off x="3261962" y="4322417"/>
            <a:ext cx="196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6EBD138-F569-6068-1DB0-80CD8DA22F87}"/>
              </a:ext>
            </a:extLst>
          </p:cNvPr>
          <p:cNvSpPr/>
          <p:nvPr/>
        </p:nvSpPr>
        <p:spPr>
          <a:xfrm>
            <a:off x="2081585" y="1164202"/>
            <a:ext cx="2623930" cy="569843"/>
          </a:xfrm>
          <a:prstGeom prst="roundRect">
            <a:avLst>
              <a:gd name="adj" fmla="val 11173"/>
            </a:avLst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 Object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(Policy Wording)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7ABA9F9-3C86-F040-A5EB-027113313573}"/>
              </a:ext>
            </a:extLst>
          </p:cNvPr>
          <p:cNvSpPr/>
          <p:nvPr/>
        </p:nvSpPr>
        <p:spPr>
          <a:xfrm>
            <a:off x="2081585" y="2292293"/>
            <a:ext cx="1550505" cy="569843"/>
          </a:xfrm>
          <a:prstGeom prst="roundRect">
            <a:avLst>
              <a:gd name="adj" fmla="val 11173"/>
            </a:avLst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 Group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F4AC7FA-9212-57BA-1D06-413B94B936B0}"/>
              </a:ext>
            </a:extLst>
          </p:cNvPr>
          <p:cNvSpPr/>
          <p:nvPr/>
        </p:nvSpPr>
        <p:spPr>
          <a:xfrm>
            <a:off x="2584743" y="3660249"/>
            <a:ext cx="1550505" cy="582279"/>
          </a:xfrm>
          <a:prstGeom prst="roundRect">
            <a:avLst>
              <a:gd name="adj" fmla="val 11173"/>
            </a:avLst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739D2A1-FDA0-732C-A1D2-5BDFA9F28E1D}"/>
              </a:ext>
            </a:extLst>
          </p:cNvPr>
          <p:cNvSpPr/>
          <p:nvPr/>
        </p:nvSpPr>
        <p:spPr>
          <a:xfrm>
            <a:off x="2584743" y="4788340"/>
            <a:ext cx="1550506" cy="582279"/>
          </a:xfrm>
          <a:prstGeom prst="roundRect">
            <a:avLst>
              <a:gd name="adj" fmla="val 11173"/>
            </a:avLst>
          </a:prstGeom>
          <a:solidFill>
            <a:schemeClr val="tx2">
              <a:lumMod val="10000"/>
              <a:lumOff val="9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B095626-CAB1-2B27-D536-584B19605991}"/>
              </a:ext>
            </a:extLst>
          </p:cNvPr>
          <p:cNvSpPr/>
          <p:nvPr/>
        </p:nvSpPr>
        <p:spPr>
          <a:xfrm>
            <a:off x="988907" y="881268"/>
            <a:ext cx="3992279" cy="474626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2B7EBAC6-DBBF-2E76-B26B-FC068FA9D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968" y="3274140"/>
            <a:ext cx="2749354" cy="13125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22A2FB4-6068-E54A-D9EE-CAA43E68F960}"/>
              </a:ext>
            </a:extLst>
          </p:cNvPr>
          <p:cNvSpPr txBox="1"/>
          <p:nvPr/>
        </p:nvSpPr>
        <p:spPr>
          <a:xfrm>
            <a:off x="5909743" y="2992604"/>
            <a:ext cx="2601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Basic ‘building block’ of contract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BBA7B72-6CD7-0D03-9A24-EF21A7AF3B5E}"/>
              </a:ext>
            </a:extLst>
          </p:cNvPr>
          <p:cNvSpPr/>
          <p:nvPr/>
        </p:nvSpPr>
        <p:spPr>
          <a:xfrm>
            <a:off x="5912832" y="4011024"/>
            <a:ext cx="2623930" cy="503887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FF1C59B-EBED-EA33-4F65-F41C43AEF98A}"/>
              </a:ext>
            </a:extLst>
          </p:cNvPr>
          <p:cNvSpPr txBox="1"/>
          <p:nvPr/>
        </p:nvSpPr>
        <p:spPr>
          <a:xfrm>
            <a:off x="5701128" y="4931504"/>
            <a:ext cx="3018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Finer level of granularity to allow</a:t>
            </a:r>
          </a:p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for more accurate search and retrieval </a:t>
            </a:r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E2991B35-CCA4-1B42-A6A2-607E1605C565}"/>
              </a:ext>
            </a:extLst>
          </p:cNvPr>
          <p:cNvSpPr/>
          <p:nvPr/>
        </p:nvSpPr>
        <p:spPr>
          <a:xfrm rot="5400000">
            <a:off x="7115619" y="4125059"/>
            <a:ext cx="218356" cy="139453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A55D6D-2806-4E5B-4BC8-7AE8252498A3}"/>
              </a:ext>
            </a:extLst>
          </p:cNvPr>
          <p:cNvSpPr txBox="1"/>
          <p:nvPr/>
        </p:nvSpPr>
        <p:spPr>
          <a:xfrm>
            <a:off x="6147563" y="2310720"/>
            <a:ext cx="2125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Represents overall</a:t>
            </a:r>
          </a:p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object/document structure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D58747-D81B-7F66-BDD3-307832B0E71B}"/>
              </a:ext>
            </a:extLst>
          </p:cNvPr>
          <p:cNvSpPr txBox="1"/>
          <p:nvPr/>
        </p:nvSpPr>
        <p:spPr>
          <a:xfrm>
            <a:off x="5748723" y="1217956"/>
            <a:ext cx="2779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The overall policy/contract wording</a:t>
            </a:r>
          </a:p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The ‘Insurance Product’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FD20F91-D9CA-E830-BCA7-F5D4025F183B}"/>
              </a:ext>
            </a:extLst>
          </p:cNvPr>
          <p:cNvSpPr/>
          <p:nvPr/>
        </p:nvSpPr>
        <p:spPr>
          <a:xfrm>
            <a:off x="5519047" y="888059"/>
            <a:ext cx="3386414" cy="474626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2FA033E6-A531-8EC8-2344-11AC5D68C681}"/>
              </a:ext>
            </a:extLst>
          </p:cNvPr>
          <p:cNvSpPr/>
          <p:nvPr/>
        </p:nvSpPr>
        <p:spPr>
          <a:xfrm>
            <a:off x="4820731" y="3792362"/>
            <a:ext cx="914400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A7751E81-1D5B-5FFF-39F5-1FB01B157C57}"/>
              </a:ext>
            </a:extLst>
          </p:cNvPr>
          <p:cNvSpPr/>
          <p:nvPr/>
        </p:nvSpPr>
        <p:spPr>
          <a:xfrm>
            <a:off x="4820731" y="4920453"/>
            <a:ext cx="914400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3C470224-5542-6BCD-9003-8AA229B4ECBA}"/>
              </a:ext>
            </a:extLst>
          </p:cNvPr>
          <p:cNvSpPr/>
          <p:nvPr/>
        </p:nvSpPr>
        <p:spPr>
          <a:xfrm>
            <a:off x="4820731" y="2418188"/>
            <a:ext cx="914400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1C7BF462-40C7-A074-5391-CB929AE93FBA}"/>
              </a:ext>
            </a:extLst>
          </p:cNvPr>
          <p:cNvSpPr/>
          <p:nvPr/>
        </p:nvSpPr>
        <p:spPr>
          <a:xfrm>
            <a:off x="4820731" y="1289763"/>
            <a:ext cx="914400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7FDB68B-1CD2-04C0-446A-4D025D2789E3}"/>
              </a:ext>
            </a:extLst>
          </p:cNvPr>
          <p:cNvSpPr/>
          <p:nvPr/>
        </p:nvSpPr>
        <p:spPr>
          <a:xfrm rot="16200000">
            <a:off x="1045028" y="2510388"/>
            <a:ext cx="604811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AACF80-9380-A11F-807D-0ACF44077C7A}"/>
              </a:ext>
            </a:extLst>
          </p:cNvPr>
          <p:cNvCxnSpPr>
            <a:stCxn id="68" idx="1"/>
            <a:endCxn id="68" idx="3"/>
          </p:cNvCxnSpPr>
          <p:nvPr/>
        </p:nvCxnSpPr>
        <p:spPr>
          <a:xfrm>
            <a:off x="988907" y="3254401"/>
            <a:ext cx="399227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6F4734B-B1E7-85EF-41BE-3811CAF2CA18}"/>
              </a:ext>
            </a:extLst>
          </p:cNvPr>
          <p:cNvSpPr txBox="1"/>
          <p:nvPr/>
        </p:nvSpPr>
        <p:spPr>
          <a:xfrm>
            <a:off x="986748" y="2960636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538EA3-B660-24D3-FA49-719298E0A9DF}"/>
              </a:ext>
            </a:extLst>
          </p:cNvPr>
          <p:cNvSpPr txBox="1"/>
          <p:nvPr/>
        </p:nvSpPr>
        <p:spPr>
          <a:xfrm>
            <a:off x="989352" y="3269603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4E9D1DF-4A4C-6A80-2E1D-672BDBD8C4A4}"/>
              </a:ext>
            </a:extLst>
          </p:cNvPr>
          <p:cNvSpPr/>
          <p:nvPr/>
        </p:nvSpPr>
        <p:spPr>
          <a:xfrm rot="5400000">
            <a:off x="1045028" y="3680181"/>
            <a:ext cx="604811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377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A48C98-9D61-470A-F6CD-33C50D0E6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414" y="1089369"/>
            <a:ext cx="3092806" cy="44665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E57747-0234-DE0F-5467-A85FEBCDE6F7}"/>
              </a:ext>
            </a:extLst>
          </p:cNvPr>
          <p:cNvSpPr txBox="1"/>
          <p:nvPr/>
        </p:nvSpPr>
        <p:spPr>
          <a:xfrm>
            <a:off x="5852607" y="1719183"/>
            <a:ext cx="2543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Cross-referencing to other parts of the contract object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64630-37AB-D271-1335-6C2CA2F4DA05}"/>
              </a:ext>
            </a:extLst>
          </p:cNvPr>
          <p:cNvSpPr txBox="1"/>
          <p:nvPr/>
        </p:nvSpPr>
        <p:spPr>
          <a:xfrm>
            <a:off x="5735130" y="4614080"/>
            <a:ext cx="2956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Nesting within components can often exceed three levels, and in some cases reach five or six levels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12BF6A-47B3-11C8-ACCE-AA893A1BAF2D}"/>
              </a:ext>
            </a:extLst>
          </p:cNvPr>
          <p:cNvSpPr/>
          <p:nvPr/>
        </p:nvSpPr>
        <p:spPr>
          <a:xfrm>
            <a:off x="5430993" y="1089369"/>
            <a:ext cx="3386414" cy="44788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9124A22-021B-196E-F9FA-BF24A6899973}"/>
              </a:ext>
            </a:extLst>
          </p:cNvPr>
          <p:cNvSpPr/>
          <p:nvPr/>
        </p:nvSpPr>
        <p:spPr>
          <a:xfrm>
            <a:off x="5019039" y="4778220"/>
            <a:ext cx="716091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2A4A48B-5E7F-1995-AEB6-E599D20DE030}"/>
              </a:ext>
            </a:extLst>
          </p:cNvPr>
          <p:cNvSpPr/>
          <p:nvPr/>
        </p:nvSpPr>
        <p:spPr>
          <a:xfrm>
            <a:off x="5019039" y="3230987"/>
            <a:ext cx="716091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56EEBD4-97E1-0B8B-4592-62A60E9F7547}"/>
              </a:ext>
            </a:extLst>
          </p:cNvPr>
          <p:cNvSpPr/>
          <p:nvPr/>
        </p:nvSpPr>
        <p:spPr>
          <a:xfrm>
            <a:off x="5019039" y="1790990"/>
            <a:ext cx="716091" cy="31805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D888A7-485A-F7D8-4978-BC9F5022EF69}"/>
              </a:ext>
            </a:extLst>
          </p:cNvPr>
          <p:cNvSpPr txBox="1"/>
          <p:nvPr/>
        </p:nvSpPr>
        <p:spPr>
          <a:xfrm>
            <a:off x="5717885" y="3074298"/>
            <a:ext cx="2956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Most insurance policy wordings use bold lettering to indicate a defined term (and also cross-referencing a definition component)</a:t>
            </a:r>
          </a:p>
        </p:txBody>
      </p:sp>
    </p:spTree>
    <p:extLst>
      <p:ext uri="{BB962C8B-B14F-4D97-AF65-F5344CB8AC3E}">
        <p14:creationId xmlns:p14="http://schemas.microsoft.com/office/powerpoint/2010/main" val="414177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19367</TotalTime>
  <Words>426</Words>
  <Application>Microsoft Office PowerPoint</Application>
  <PresentationFormat>Widescreen</PresentationFormat>
  <Paragraphs>92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Cummins</dc:creator>
  <cp:lastModifiedBy>John Cummins</cp:lastModifiedBy>
  <cp:revision>59</cp:revision>
  <dcterms:created xsi:type="dcterms:W3CDTF">2024-05-21T08:56:46Z</dcterms:created>
  <dcterms:modified xsi:type="dcterms:W3CDTF">2025-06-04T10:10:04Z</dcterms:modified>
</cp:coreProperties>
</file>